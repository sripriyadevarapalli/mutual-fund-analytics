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393" y="1002791"/>
            <a:ext cx="5240905" cy="28803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36391" y="1258823"/>
            <a:ext cx="1462278" cy="68808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2568" y="819657"/>
            <a:ext cx="5277713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471C4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Relationship Id="rId3" Type="http://schemas.openxmlformats.org/officeDocument/2006/relationships/image" Target="../media/image24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99640" marR="5080" indent="-2187575">
              <a:lnSpc>
                <a:spcPct val="120000"/>
              </a:lnSpc>
              <a:spcBef>
                <a:spcPts val="100"/>
              </a:spcBef>
            </a:pPr>
            <a:r>
              <a:rPr dirty="0"/>
              <a:t>Bluestock</a:t>
            </a:r>
            <a:r>
              <a:rPr dirty="0" spc="-55"/>
              <a:t> </a:t>
            </a:r>
            <a:r>
              <a:rPr dirty="0"/>
              <a:t>Mutual</a:t>
            </a:r>
            <a:r>
              <a:rPr dirty="0" spc="-55"/>
              <a:t> </a:t>
            </a:r>
            <a:r>
              <a:rPr dirty="0"/>
              <a:t>Fund</a:t>
            </a:r>
            <a:r>
              <a:rPr dirty="0" spc="-60"/>
              <a:t> </a:t>
            </a:r>
            <a:r>
              <a:rPr dirty="0"/>
              <a:t>Analytics</a:t>
            </a:r>
            <a:r>
              <a:rPr dirty="0" spc="-60"/>
              <a:t> </a:t>
            </a:r>
            <a:r>
              <a:rPr dirty="0" spc="-10"/>
              <a:t>Capstone Project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4712334"/>
            <a:ext cx="5733415" cy="20320"/>
            <a:chOff x="914400" y="4712334"/>
            <a:chExt cx="5733415" cy="2032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471233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44385" y="471284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471285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44385" y="4715890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472960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4729606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914400" y="8799829"/>
            <a:ext cx="5733415" cy="20955"/>
            <a:chOff x="914400" y="8799829"/>
            <a:chExt cx="5733415" cy="20955"/>
          </a:xfrm>
        </p:grpSpPr>
        <p:sp>
          <p:nvSpPr>
            <p:cNvPr id="11" name="object 11" descr=""/>
            <p:cNvSpPr/>
            <p:nvPr/>
          </p:nvSpPr>
          <p:spPr>
            <a:xfrm>
              <a:off x="914400" y="879982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644385" y="88008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14704" y="8800858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44385" y="880389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14704" y="881760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14704" y="8817622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02004" y="1872741"/>
            <a:ext cx="5692775" cy="7720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MUTUAL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FUND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ANALYTICS</a:t>
            </a:r>
            <a:r>
              <a:rPr dirty="0" u="sng" sz="1800" spc="-5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PLATFORM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Calibri"/>
                <a:cs typeface="Calibri"/>
              </a:rPr>
              <a:t>Submitted</a:t>
            </a:r>
            <a:r>
              <a:rPr dirty="0" sz="1400" spc="-25" b="1">
                <a:latin typeface="Calibri"/>
                <a:cs typeface="Calibri"/>
              </a:rPr>
              <a:t> By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Devarapalli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Sripriya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Reddy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 b="1">
                <a:latin typeface="Calibri"/>
                <a:cs typeface="Calibri"/>
              </a:rPr>
              <a:t>Institution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latin typeface="Calibri"/>
                <a:cs typeface="Calibri"/>
              </a:rPr>
              <a:t>Indian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Institute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Information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Technology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Kottayam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(IIIT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Kottayam)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 b="1">
                <a:latin typeface="Calibri"/>
                <a:cs typeface="Calibri"/>
              </a:rPr>
              <a:t>Technologies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 marL="12700" marR="88900">
              <a:lnSpc>
                <a:spcPct val="108600"/>
              </a:lnSpc>
              <a:spcBef>
                <a:spcPts val="835"/>
              </a:spcBef>
            </a:pPr>
            <a:r>
              <a:rPr dirty="0" sz="1400">
                <a:latin typeface="Calibri"/>
                <a:cs typeface="Calibri"/>
              </a:rPr>
              <a:t>Python,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Pandas,</a:t>
            </a:r>
            <a:r>
              <a:rPr dirty="0" sz="1400" spc="-20">
                <a:latin typeface="Calibri"/>
                <a:cs typeface="Calibri"/>
              </a:rPr>
              <a:t> NumPy, </a:t>
            </a:r>
            <a:r>
              <a:rPr dirty="0" sz="1400">
                <a:latin typeface="Calibri"/>
                <a:cs typeface="Calibri"/>
              </a:rPr>
              <a:t>SQLite,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SQLAlchemy,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SciPy,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Jupyter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Notebook,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Power </a:t>
            </a:r>
            <a:r>
              <a:rPr dirty="0" sz="1400">
                <a:latin typeface="Calibri"/>
                <a:cs typeface="Calibri"/>
              </a:rPr>
              <a:t>BI,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GitHub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Executive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Summary</a:t>
            </a:r>
            <a:endParaRPr sz="1800">
              <a:latin typeface="Calibri"/>
              <a:cs typeface="Calibri"/>
            </a:endParaRPr>
          </a:p>
          <a:p>
            <a:pPr marL="12700" marR="248285">
              <a:lnSpc>
                <a:spcPct val="109700"/>
              </a:lnSpc>
              <a:spcBef>
                <a:spcPts val="87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end-to-</a:t>
            </a:r>
            <a:r>
              <a:rPr dirty="0" sz="1400">
                <a:latin typeface="Calibri"/>
                <a:cs typeface="Calibri"/>
              </a:rPr>
              <a:t>end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analytics </a:t>
            </a:r>
            <a:r>
              <a:rPr dirty="0" sz="1400">
                <a:latin typeface="Calibri"/>
                <a:cs typeface="Calibri"/>
              </a:rPr>
              <a:t>solution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behavior, portfolio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trends.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combines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engineering, database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advanced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business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intelligence visualization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unified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platform.</a:t>
            </a:r>
            <a:endParaRPr sz="14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969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46,000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NAV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records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32,000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endParaRPr sz="1400">
              <a:latin typeface="Calibri"/>
              <a:cs typeface="Calibri"/>
            </a:endParaRPr>
          </a:p>
          <a:p>
            <a:pPr algn="just" marL="12700" marR="167005">
              <a:lnSpc>
                <a:spcPct val="109600"/>
              </a:lnSpc>
              <a:spcBef>
                <a:spcPts val="5"/>
              </a:spcBef>
            </a:pPr>
            <a:r>
              <a:rPr dirty="0" sz="1400" spc="-10">
                <a:latin typeface="Calibri"/>
                <a:cs typeface="Calibri"/>
              </a:rPr>
              <a:t>transactions.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Multiple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metrics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CAGR,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Sharpe Ratio,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Sortino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Ratio,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Alpha,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Beta,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VaR,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CVaR,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Maximum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Drawdown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were </a:t>
            </a:r>
            <a:r>
              <a:rPr dirty="0" sz="1400" spc="-10">
                <a:latin typeface="Calibri"/>
                <a:cs typeface="Calibri"/>
              </a:rPr>
              <a:t>calculated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evaluate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10">
                <a:latin typeface="Calibri"/>
                <a:cs typeface="Calibri"/>
              </a:rPr>
              <a:t> performance.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6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Power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dashboard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insights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into </a:t>
            </a:r>
            <a:r>
              <a:rPr dirty="0" sz="1400" spc="-10">
                <a:latin typeface="Calibri"/>
                <a:cs typeface="Calibri"/>
              </a:rPr>
              <a:t>industry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trends,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25">
                <a:latin typeface="Calibri"/>
                <a:cs typeface="Calibri"/>
              </a:rPr>
              <a:t> behavior,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growth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patterns.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demonstrates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complete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lifecycle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analytics application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raw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ingestion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business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intelligence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reporting.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PROBLEM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STATEMENT</a:t>
            </a: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OBJECTIVES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ct val="100000"/>
              </a:lnSpc>
              <a:spcBef>
                <a:spcPts val="1025"/>
              </a:spcBef>
            </a:pPr>
            <a:r>
              <a:rPr dirty="0" sz="1400" b="1">
                <a:latin typeface="Calibri"/>
                <a:cs typeface="Calibri"/>
              </a:rPr>
              <a:t>Problem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Statement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6045834"/>
            <a:ext cx="5733415" cy="20955"/>
            <a:chOff x="914400" y="6045834"/>
            <a:chExt cx="573341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604583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6046596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6046609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6049644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60633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606337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873606"/>
            <a:ext cx="5695950" cy="88855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215900">
              <a:lnSpc>
                <a:spcPct val="109300"/>
              </a:lnSpc>
              <a:spcBef>
                <a:spcPts val="110"/>
              </a:spcBef>
            </a:pPr>
            <a:r>
              <a:rPr dirty="0" sz="1400" spc="-10">
                <a:latin typeface="Calibri"/>
                <a:cs typeface="Calibri"/>
              </a:rPr>
              <a:t>Investors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often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face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challenges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selecting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suitable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the </a:t>
            </a:r>
            <a:r>
              <a:rPr dirty="0" sz="1400" spc="-10">
                <a:latin typeface="Calibri"/>
                <a:cs typeface="Calibri"/>
              </a:rPr>
              <a:t>large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number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available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schemes,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varying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profiles,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inconsistent performance measures.</a:t>
            </a:r>
            <a:endParaRPr sz="1400">
              <a:latin typeface="Calibri"/>
              <a:cs typeface="Calibri"/>
            </a:endParaRPr>
          </a:p>
          <a:p>
            <a:pPr marL="12700" marR="251460">
              <a:lnSpc>
                <a:spcPct val="108600"/>
              </a:lnSpc>
              <a:spcBef>
                <a:spcPts val="840"/>
              </a:spcBef>
            </a:pPr>
            <a:r>
              <a:rPr dirty="0" sz="1400" spc="-20">
                <a:latin typeface="Calibri"/>
                <a:cs typeface="Calibri"/>
              </a:rPr>
              <a:t>Traditional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investment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analysis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often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focuses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ignoring </a:t>
            </a:r>
            <a:r>
              <a:rPr dirty="0" sz="1400" spc="-25">
                <a:latin typeface="Calibri"/>
                <a:cs typeface="Calibri"/>
              </a:rPr>
              <a:t>risk-</a:t>
            </a:r>
            <a:r>
              <a:rPr dirty="0" sz="1400" spc="-10">
                <a:latin typeface="Calibri"/>
                <a:cs typeface="Calibri"/>
              </a:rPr>
              <a:t>adjusted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behavior,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 diversification.</a:t>
            </a:r>
            <a:endParaRPr sz="1400">
              <a:latin typeface="Calibri"/>
              <a:cs typeface="Calibri"/>
            </a:endParaRPr>
          </a:p>
          <a:p>
            <a:pPr marL="12700" marR="144780">
              <a:lnSpc>
                <a:spcPct val="108600"/>
              </a:lnSpc>
              <a:spcBef>
                <a:spcPts val="840"/>
              </a:spcBef>
            </a:pP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aims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comprehensive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enables</a:t>
            </a:r>
            <a:r>
              <a:rPr dirty="0" sz="1400" spc="-20">
                <a:latin typeface="Calibri"/>
                <a:cs typeface="Calibri"/>
              </a:rPr>
              <a:t> data-</a:t>
            </a:r>
            <a:r>
              <a:rPr dirty="0" sz="1400">
                <a:latin typeface="Calibri"/>
                <a:cs typeface="Calibri"/>
              </a:rPr>
              <a:t>driven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investment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decision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making.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b="1">
                <a:latin typeface="Calibri"/>
                <a:cs typeface="Calibri"/>
              </a:rPr>
              <a:t>Project</a:t>
            </a:r>
            <a:r>
              <a:rPr dirty="0" sz="1400" spc="-7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Objectives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5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Collect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Build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automated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ETL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pipeline.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Design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relational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Analyze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metrics.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468630" algn="l"/>
              </a:tabLst>
            </a:pPr>
            <a:r>
              <a:rPr dirty="0" sz="1400" spc="-20">
                <a:latin typeface="Calibri"/>
                <a:cs typeface="Calibri"/>
              </a:rPr>
              <a:t>Evaluate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quantitative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techniques.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Study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behavior.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Create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interactive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business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intelligence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dashboard.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Develop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recommendation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800" spc="-4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DATASET</a:t>
            </a:r>
            <a:r>
              <a:rPr dirty="0" u="sng" sz="1800" spc="-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DESCRIPTION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400" spc="-10" b="1">
                <a:latin typeface="Calibri"/>
                <a:cs typeface="Calibri"/>
              </a:rPr>
              <a:t>Datasets</a:t>
            </a:r>
            <a:r>
              <a:rPr dirty="0" sz="1400" spc="-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utilizes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ten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Fund </a:t>
            </a:r>
            <a:r>
              <a:rPr dirty="0" sz="1400" spc="-10" b="1">
                <a:latin typeface="Calibri"/>
                <a:cs typeface="Calibri"/>
              </a:rPr>
              <a:t>Master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8800"/>
              </a:lnSpc>
              <a:spcBef>
                <a:spcPts val="835"/>
              </a:spcBef>
            </a:pPr>
            <a:r>
              <a:rPr dirty="0" sz="1400" spc="-10">
                <a:latin typeface="Calibri"/>
                <a:cs typeface="Calibri"/>
              </a:rPr>
              <a:t>Contains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details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AMFI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house,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category,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grade,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information.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9"/>
              </a:spcBef>
              <a:buAutoNum type="arabicPeriod" startAt="2"/>
              <a:tabLst>
                <a:tab pos="187325" algn="l"/>
              </a:tabLst>
            </a:pPr>
            <a:r>
              <a:rPr dirty="0" sz="1400" spc="-10" b="1">
                <a:latin typeface="Calibri"/>
                <a:cs typeface="Calibri"/>
              </a:rPr>
              <a:t>NAV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History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Daily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Asset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Value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history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schemes.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75"/>
              </a:spcBef>
              <a:buAutoNum type="arabicPeriod" startAt="3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AUM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by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Fund</a:t>
            </a:r>
            <a:r>
              <a:rPr dirty="0" sz="1400" spc="-1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House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Assets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statistics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across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companies.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0"/>
              </a:spcBef>
              <a:buAutoNum type="arabicPeriod" startAt="4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Monthly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SIP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Inflows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5780404"/>
            <a:ext cx="5733415" cy="20955"/>
            <a:chOff x="914400" y="5780404"/>
            <a:chExt cx="573341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578040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578142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5781420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578446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579818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579819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771498"/>
            <a:ext cx="5273040" cy="61372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>
                <a:latin typeface="Calibri"/>
                <a:cs typeface="Calibri"/>
              </a:rPr>
              <a:t>Monthly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contribution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0"/>
              </a:spcBef>
              <a:buAutoNum type="arabicPeriod" startAt="5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Category</a:t>
            </a:r>
            <a:r>
              <a:rPr dirty="0" sz="1400" spc="-7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Inflows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20">
                <a:latin typeface="Calibri"/>
                <a:cs typeface="Calibri"/>
              </a:rPr>
              <a:t>Category-</a:t>
            </a:r>
            <a:r>
              <a:rPr dirty="0" sz="1400">
                <a:latin typeface="Calibri"/>
                <a:cs typeface="Calibri"/>
              </a:rPr>
              <a:t>wise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inflow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outflow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information.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0"/>
              </a:spcBef>
              <a:buAutoNum type="arabicPeriod" startAt="6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Industry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Folio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Count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account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statistics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across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industry.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9"/>
              </a:spcBef>
              <a:buAutoNum type="arabicPeriod" startAt="7"/>
              <a:tabLst>
                <a:tab pos="187325" algn="l"/>
              </a:tabLst>
            </a:pPr>
            <a:r>
              <a:rPr dirty="0" sz="1400" b="1">
                <a:latin typeface="Calibri"/>
                <a:cs typeface="Calibri"/>
              </a:rPr>
              <a:t>Scheme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Performance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expense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ratios,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measures.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75"/>
              </a:spcBef>
              <a:buAutoNum type="arabicPeriod" startAt="8"/>
              <a:tabLst>
                <a:tab pos="187325" algn="l"/>
              </a:tabLst>
            </a:pPr>
            <a:r>
              <a:rPr dirty="0" sz="1400" spc="-10" b="1">
                <a:latin typeface="Calibri"/>
                <a:cs typeface="Calibri"/>
              </a:rPr>
              <a:t>Investor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Transactions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25">
                <a:latin typeface="Calibri"/>
                <a:cs typeface="Calibri"/>
              </a:rPr>
              <a:t>Transaction-</a:t>
            </a:r>
            <a:r>
              <a:rPr dirty="0" sz="1400">
                <a:latin typeface="Calibri"/>
                <a:cs typeface="Calibri"/>
              </a:rPr>
              <a:t>level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40">
                <a:latin typeface="Calibri"/>
                <a:cs typeface="Calibri"/>
              </a:rPr>
              <a:t>SIP,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lump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sum,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10">
                <a:latin typeface="Calibri"/>
                <a:cs typeface="Calibri"/>
              </a:rPr>
              <a:t> redemption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records.</a:t>
            </a:r>
            <a:endParaRPr sz="14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960"/>
              </a:spcBef>
              <a:buAutoNum type="arabicPeriod" startAt="9"/>
              <a:tabLst>
                <a:tab pos="187325" algn="l"/>
              </a:tabLst>
            </a:pPr>
            <a:r>
              <a:rPr dirty="0" sz="1400" spc="-10" b="1">
                <a:latin typeface="Calibri"/>
                <a:cs typeface="Calibri"/>
              </a:rPr>
              <a:t>Portfolio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Holdings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allocations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sector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weights.</a:t>
            </a:r>
            <a:endParaRPr sz="1400">
              <a:latin typeface="Calibri"/>
              <a:cs typeface="Calibri"/>
            </a:endParaRPr>
          </a:p>
          <a:p>
            <a:pPr marL="278130" indent="-265430">
              <a:lnSpc>
                <a:spcPct val="100000"/>
              </a:lnSpc>
              <a:spcBef>
                <a:spcPts val="960"/>
              </a:spcBef>
              <a:buAutoNum type="arabicPeriod" startAt="10"/>
              <a:tabLst>
                <a:tab pos="278130" algn="l"/>
              </a:tabLst>
            </a:pPr>
            <a:r>
              <a:rPr dirty="0" sz="1400" b="1">
                <a:latin typeface="Calibri"/>
                <a:cs typeface="Calibri"/>
              </a:rPr>
              <a:t>Benchmark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Indices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Historical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benchmark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index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25">
                <a:latin typeface="Calibri"/>
                <a:cs typeface="Calibri"/>
              </a:rPr>
              <a:t>Total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Processed: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85,000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spc="-8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ENGINEERING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8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ETL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PIPELINE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400" b="1">
                <a:latin typeface="Calibri"/>
                <a:cs typeface="Calibri"/>
              </a:rPr>
              <a:t>ETL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Pipeline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automated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ETL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pipeline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7026160"/>
            <a:ext cx="2679446" cy="2632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8030209"/>
            <a:ext cx="5733415" cy="20955"/>
            <a:chOff x="914400" y="8030209"/>
            <a:chExt cx="573341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803020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80312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803122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80342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80479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804798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771498"/>
            <a:ext cx="5411470" cy="83870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spc="-10" b="1">
                <a:latin typeface="Calibri"/>
                <a:cs typeface="Calibri"/>
              </a:rPr>
              <a:t>Extraction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Raw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CSV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imported.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Live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NAV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fetched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MFAPI.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validation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performed.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 b="1">
                <a:latin typeface="Calibri"/>
                <a:cs typeface="Calibri"/>
              </a:rPr>
              <a:t>Transformation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Missing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values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handled.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Duplicate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removed.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Date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formats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standardized.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20">
                <a:latin typeface="Calibri"/>
                <a:cs typeface="Calibri"/>
              </a:rPr>
              <a:t>Transaction </a:t>
            </a:r>
            <a:r>
              <a:rPr dirty="0" sz="1400" spc="-10">
                <a:latin typeface="Calibri"/>
                <a:cs typeface="Calibri"/>
              </a:rPr>
              <a:t>categories normalized.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metrics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validated.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spc="-10" b="1">
                <a:latin typeface="Calibri"/>
                <a:cs typeface="Calibri"/>
              </a:rPr>
              <a:t>Loading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Cleaned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loaded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SQLite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Star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implemented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 b="1">
                <a:latin typeface="Calibri"/>
                <a:cs typeface="Calibri"/>
              </a:rPr>
              <a:t>Technologies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Used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Python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Pandas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Requests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SQLAlchemy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SQLite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8600"/>
              </a:lnSpc>
              <a:spcBef>
                <a:spcPts val="840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ETL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pipeline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automatically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without </a:t>
            </a:r>
            <a:r>
              <a:rPr dirty="0" sz="1400">
                <a:latin typeface="Calibri"/>
                <a:cs typeface="Calibri"/>
              </a:rPr>
              <a:t>manual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intervention.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DATABASE</a:t>
            </a:r>
            <a:r>
              <a:rPr dirty="0" u="sng" sz="1800" spc="-6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b="1">
                <a:latin typeface="Calibri"/>
                <a:cs typeface="Calibri"/>
              </a:rPr>
              <a:t>Database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Architecture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support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workloads.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3498316"/>
            <a:ext cx="2908300" cy="60737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594485">
              <a:lnSpc>
                <a:spcPct val="157900"/>
              </a:lnSpc>
              <a:spcBef>
                <a:spcPts val="95"/>
              </a:spcBef>
            </a:pPr>
            <a:r>
              <a:rPr dirty="0" sz="1400" b="1">
                <a:latin typeface="Calibri"/>
                <a:cs typeface="Calibri"/>
              </a:rPr>
              <a:t>Dimension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Tables </a:t>
            </a:r>
            <a:r>
              <a:rPr dirty="0" sz="1400" spc="-10" b="1">
                <a:latin typeface="Calibri"/>
                <a:cs typeface="Calibri"/>
              </a:rPr>
              <a:t>dim_fund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Stores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metadata.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spc="-10" b="1">
                <a:latin typeface="Calibri"/>
                <a:cs typeface="Calibri"/>
              </a:rPr>
              <a:t>dim_date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Stores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calendar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attributes.</a:t>
            </a:r>
            <a:endParaRPr sz="1400">
              <a:latin typeface="Calibri"/>
              <a:cs typeface="Calibri"/>
            </a:endParaRPr>
          </a:p>
          <a:p>
            <a:pPr marL="12700" marR="2084070">
              <a:lnSpc>
                <a:spcPts val="2650"/>
              </a:lnSpc>
              <a:spcBef>
                <a:spcPts val="240"/>
              </a:spcBef>
            </a:pPr>
            <a:r>
              <a:rPr dirty="0" sz="1400" b="1">
                <a:latin typeface="Calibri"/>
                <a:cs typeface="Calibri"/>
              </a:rPr>
              <a:t>Fact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25" b="1">
                <a:latin typeface="Calibri"/>
                <a:cs typeface="Calibri"/>
              </a:rPr>
              <a:t>Tables </a:t>
            </a:r>
            <a:r>
              <a:rPr dirty="0" sz="1400" spc="-10" b="1">
                <a:latin typeface="Calibri"/>
                <a:cs typeface="Calibri"/>
              </a:rPr>
              <a:t>fact_nav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1400">
                <a:latin typeface="Calibri"/>
                <a:cs typeface="Calibri"/>
              </a:rPr>
              <a:t>Daily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NAV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values.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 b="1">
                <a:latin typeface="Calibri"/>
                <a:cs typeface="Calibri"/>
              </a:rPr>
              <a:t>fact_transactions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records.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 b="1">
                <a:latin typeface="Calibri"/>
                <a:cs typeface="Calibri"/>
              </a:rPr>
              <a:t>fact_performance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metrics.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 b="1">
                <a:latin typeface="Calibri"/>
                <a:cs typeface="Calibri"/>
              </a:rPr>
              <a:t>fact_aum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latin typeface="Calibri"/>
                <a:cs typeface="Calibri"/>
              </a:rPr>
              <a:t>Assets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Management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 b="1">
                <a:latin typeface="Calibri"/>
                <a:cs typeface="Calibri"/>
              </a:rPr>
              <a:t>Benefits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Faster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execution.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Improved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performance.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Simplified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analytical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calculations.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3162300" cy="2609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1414144"/>
            <a:ext cx="5733415" cy="20320"/>
            <a:chOff x="914400" y="1414144"/>
            <a:chExt cx="5733415" cy="20320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1414157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5731497" y="19672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14145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141452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14175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14312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143128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892809"/>
            <a:ext cx="5471795" cy="164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10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Better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scalability.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spc="-2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EXPLORATORY</a:t>
            </a:r>
            <a:r>
              <a:rPr dirty="0" u="sng" sz="1800" spc="-1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8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Calibri"/>
                <a:cs typeface="Calibri"/>
              </a:rPr>
              <a:t>Exploratory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Data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EDA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understand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trends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relationships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02004" y="6606006"/>
            <a:ext cx="5562600" cy="1606550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400" b="1">
                <a:latin typeface="Calibri"/>
                <a:cs typeface="Calibri"/>
              </a:rPr>
              <a:t>Fund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House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8600"/>
              </a:lnSpc>
              <a:spcBef>
                <a:spcPts val="840"/>
              </a:spcBef>
            </a:pPr>
            <a:r>
              <a:rPr dirty="0" sz="1400">
                <a:latin typeface="Calibri"/>
                <a:cs typeface="Calibri"/>
              </a:rPr>
              <a:t>Analysis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showed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concentration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major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AMCs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including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SBI,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HDFC,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ICICI Prudential,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Nippon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India,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Kotak.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Category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Most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schemes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belonged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Moderate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High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categories.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0612" y="2783868"/>
            <a:ext cx="5133080" cy="38950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510252"/>
            <a:ext cx="5065395" cy="6959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Category</a:t>
            </a:r>
            <a:r>
              <a:rPr dirty="0" sz="1400" spc="-7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Large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Flexi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Small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categories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dominated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dataset.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8054187"/>
            <a:ext cx="5662295" cy="9321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spc="-10" b="1">
                <a:latin typeface="Calibri"/>
                <a:cs typeface="Calibri"/>
              </a:rPr>
              <a:t>Investor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 spc="-10">
                <a:latin typeface="Calibri"/>
                <a:cs typeface="Calibri"/>
              </a:rPr>
              <a:t>Investment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activity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concentrated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selected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metropolitan regions.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5844" y="1024918"/>
            <a:ext cx="3999384" cy="31083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1203" y="5751455"/>
            <a:ext cx="4946072" cy="2271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6185382"/>
            <a:ext cx="5367020" cy="9321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spc="-10" b="1">
                <a:latin typeface="Calibri"/>
                <a:cs typeface="Calibri"/>
              </a:rPr>
              <a:t>Portfolio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Technology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sectors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represented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significant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 allocations.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1748" y="999486"/>
            <a:ext cx="5128193" cy="51593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6762115"/>
            <a:ext cx="5733415" cy="20955"/>
            <a:chOff x="914400" y="6762115"/>
            <a:chExt cx="573341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676211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6762877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6762889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48"/>
                  </a:moveTo>
                  <a:lnTo>
                    <a:pt x="0" y="3048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48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6765925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67796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6779653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6808088"/>
            <a:ext cx="4387215" cy="1651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PERFORMANCE</a:t>
            </a:r>
            <a:r>
              <a:rPr dirty="0" u="sng" sz="1800" spc="-8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400" spc="-10" b="1">
                <a:latin typeface="Calibri"/>
                <a:cs typeface="Calibri"/>
              </a:rPr>
              <a:t>Performance</a:t>
            </a:r>
            <a:r>
              <a:rPr dirty="0" sz="1400" spc="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Metrics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latin typeface="Calibri"/>
                <a:cs typeface="Calibri"/>
              </a:rPr>
              <a:t>Several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quantitative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measures </a:t>
            </a:r>
            <a:r>
              <a:rPr dirty="0" sz="1400">
                <a:latin typeface="Calibri"/>
                <a:cs typeface="Calibri"/>
              </a:rPr>
              <a:t>were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calculated.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spc="-20" b="1">
                <a:latin typeface="Calibri"/>
                <a:cs typeface="Calibri"/>
              </a:rPr>
              <a:t>CAGR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Measures annualized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investment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growth.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824" y="1002829"/>
            <a:ext cx="5273310" cy="54022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3155416"/>
            <a:ext cx="3576954" cy="137160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b="1">
                <a:latin typeface="Calibri"/>
                <a:cs typeface="Calibri"/>
              </a:rPr>
              <a:t>Sharpe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Ratio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>
                <a:latin typeface="Calibri"/>
                <a:cs typeface="Calibri"/>
              </a:rPr>
              <a:t>Measures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unit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total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risk.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latin typeface="Calibri"/>
                <a:cs typeface="Calibri"/>
              </a:rPr>
              <a:t>Sortino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Ratio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spc="-10">
                <a:latin typeface="Calibri"/>
                <a:cs typeface="Calibri"/>
              </a:rPr>
              <a:t>Measures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excess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relative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downside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risk.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8764371"/>
            <a:ext cx="3952240" cy="6959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spc="-10" b="1">
                <a:latin typeface="Calibri"/>
                <a:cs typeface="Calibri"/>
              </a:rPr>
              <a:t>Alpha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Measures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risk-</a:t>
            </a:r>
            <a:r>
              <a:rPr dirty="0" sz="1400" spc="-10">
                <a:latin typeface="Calibri"/>
                <a:cs typeface="Calibri"/>
              </a:rPr>
              <a:t>adjusted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benchmark.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1038224"/>
            <a:ext cx="1914525" cy="19431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4796018"/>
            <a:ext cx="2771775" cy="38859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71498"/>
            <a:ext cx="2080260" cy="6959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spc="-20" b="1">
                <a:latin typeface="Calibri"/>
                <a:cs typeface="Calibri"/>
              </a:rPr>
              <a:t>Beta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Measures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sensitivity.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3772636"/>
            <a:ext cx="3649979" cy="6959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Maximum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Drawdown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10">
                <a:latin typeface="Calibri"/>
                <a:cs typeface="Calibri"/>
              </a:rPr>
              <a:t>Measures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worst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decline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peak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value.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6942810"/>
            <a:ext cx="5356860" cy="9321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spc="-10" b="1">
                <a:latin typeface="Calibri"/>
                <a:cs typeface="Calibri"/>
              </a:rPr>
              <a:t>Results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Small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20">
                <a:latin typeface="Calibri"/>
                <a:cs typeface="Calibri"/>
              </a:rPr>
              <a:t> generated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highest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long-term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returns</a:t>
            </a:r>
            <a:r>
              <a:rPr dirty="0" sz="1400" spc="-25">
                <a:latin typeface="Calibri"/>
                <a:cs typeface="Calibri"/>
              </a:rPr>
              <a:t> but </a:t>
            </a:r>
            <a:r>
              <a:rPr dirty="0" sz="1400" spc="-10">
                <a:latin typeface="Calibri"/>
                <a:cs typeface="Calibri"/>
              </a:rPr>
              <a:t>exhibited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higher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volatility.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38857"/>
            <a:ext cx="2847975" cy="194276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650" y="4776723"/>
            <a:ext cx="2438400" cy="1943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8500744"/>
            <a:ext cx="5733415" cy="21590"/>
            <a:chOff x="914400" y="8500744"/>
            <a:chExt cx="5733415" cy="21590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850074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850214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8502154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850518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851890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8518918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8649461"/>
            <a:ext cx="5013960" cy="980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ADVANCED</a:t>
            </a:r>
            <a:r>
              <a:rPr dirty="0" u="sng" sz="1800" spc="-9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Calibri"/>
                <a:cs typeface="Calibri"/>
              </a:rPr>
              <a:t>Value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at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(VaR)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10">
                <a:latin typeface="Calibri"/>
                <a:cs typeface="Calibri"/>
              </a:rPr>
              <a:t>Historical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30">
                <a:latin typeface="Calibri"/>
                <a:cs typeface="Calibri"/>
              </a:rPr>
              <a:t>VaR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95%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confidence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level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computed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schemes.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0" y="1038224"/>
            <a:ext cx="4552950" cy="3886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625" y="5302382"/>
            <a:ext cx="5389767" cy="28510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892809"/>
            <a:ext cx="55867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alibri"/>
                <a:cs typeface="Calibri"/>
              </a:rPr>
              <a:t>VaR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estimates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maximum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expected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during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adverse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market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conditions.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3624808"/>
            <a:ext cx="5702935" cy="1604645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b="1">
                <a:latin typeface="Calibri"/>
                <a:cs typeface="Calibri"/>
              </a:rPr>
              <a:t>Conditional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Value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at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Risk</a:t>
            </a:r>
            <a:r>
              <a:rPr dirty="0" sz="1400" spc="-5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(CVaR)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 spc="-20">
                <a:latin typeface="Calibri"/>
                <a:cs typeface="Calibri"/>
              </a:rPr>
              <a:t>CVaR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estimates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average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losses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beyond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VaR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threshold.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latin typeface="Calibri"/>
                <a:cs typeface="Calibri"/>
              </a:rPr>
              <a:t>Rolling</a:t>
            </a:r>
            <a:r>
              <a:rPr dirty="0" sz="1400" spc="-6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Sharpe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20" b="1">
                <a:latin typeface="Calibri"/>
                <a:cs typeface="Calibri"/>
              </a:rPr>
              <a:t>Ratio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90-</a:t>
            </a:r>
            <a:r>
              <a:rPr dirty="0" sz="1400">
                <a:latin typeface="Calibri"/>
                <a:cs typeface="Calibri"/>
              </a:rPr>
              <a:t>day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rolling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Sharpe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Ratio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calculated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evaluate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changing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risk-</a:t>
            </a:r>
            <a:r>
              <a:rPr dirty="0" sz="1400" spc="-10">
                <a:latin typeface="Calibri"/>
                <a:cs typeface="Calibri"/>
              </a:rPr>
              <a:t>adjusted performance.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2004" y="8427567"/>
            <a:ext cx="4686935" cy="93218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b="1">
                <a:latin typeface="Calibri"/>
                <a:cs typeface="Calibri"/>
              </a:rPr>
              <a:t>Sector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Concentration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 spc="-20">
                <a:latin typeface="Calibri"/>
                <a:cs typeface="Calibri"/>
              </a:rPr>
              <a:t>Herfindahl-</a:t>
            </a:r>
            <a:r>
              <a:rPr dirty="0" sz="1400" spc="-10">
                <a:latin typeface="Calibri"/>
                <a:cs typeface="Calibri"/>
              </a:rPr>
              <a:t>Hirschman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Index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(HHI)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0">
                <a:latin typeface="Calibri"/>
                <a:cs typeface="Calibri"/>
              </a:rPr>
              <a:t> measure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 concentration.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1393062"/>
            <a:ext cx="2809875" cy="19431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962" y="5502380"/>
            <a:ext cx="5366910" cy="2799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3214852"/>
            <a:ext cx="3098165" cy="170370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Fund</a:t>
            </a:r>
            <a:r>
              <a:rPr dirty="0" sz="1400" spc="1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Recommendation</a:t>
            </a:r>
            <a:r>
              <a:rPr dirty="0" sz="1400" spc="1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System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recommendation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engine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built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using: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Grade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Sharpe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Ratio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Historical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5871844"/>
            <a:ext cx="5733415" cy="20955"/>
            <a:chOff x="914400" y="5871844"/>
            <a:chExt cx="5733415" cy="20955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587184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44385" y="587286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5872873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44385" y="587590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588962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588963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02004" y="6021704"/>
            <a:ext cx="4355465" cy="131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INVESTOR</a:t>
            </a:r>
            <a:r>
              <a:rPr dirty="0" u="sng" sz="1800" spc="-4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ANALYTICS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400" b="1">
                <a:latin typeface="Calibri"/>
                <a:cs typeface="Calibri"/>
              </a:rPr>
              <a:t>Cohort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2650"/>
              </a:lnSpc>
              <a:spcBef>
                <a:spcPts val="95"/>
              </a:spcBef>
            </a:pPr>
            <a:r>
              <a:rPr dirty="0" sz="1400" spc="-10">
                <a:latin typeface="Calibri"/>
                <a:cs typeface="Calibri"/>
              </a:rPr>
              <a:t>Investors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grouped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their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first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investment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year. </a:t>
            </a:r>
            <a:r>
              <a:rPr dirty="0" sz="1400">
                <a:latin typeface="Calibri"/>
                <a:cs typeface="Calibri"/>
              </a:rPr>
              <a:t>Metrics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analyzed: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130604" y="8631783"/>
            <a:ext cx="1969135" cy="103124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20">
                <a:latin typeface="Calibri"/>
                <a:cs typeface="Calibri"/>
              </a:rPr>
              <a:t>Average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10">
                <a:latin typeface="Calibri"/>
                <a:cs typeface="Calibri"/>
              </a:rPr>
              <a:t> Amount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25">
                <a:latin typeface="Calibri"/>
                <a:cs typeface="Calibri"/>
              </a:rPr>
              <a:t>Total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Amount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5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10">
                <a:latin typeface="Calibri"/>
                <a:cs typeface="Calibri"/>
              </a:rPr>
              <a:t>Preferred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Funds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650" y="1057274"/>
            <a:ext cx="1914525" cy="19431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" y="7568438"/>
            <a:ext cx="3238500" cy="9620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71498"/>
            <a:ext cx="4184650" cy="204025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SIP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Continuity</a:t>
            </a:r>
            <a:r>
              <a:rPr dirty="0" sz="1400" spc="-4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ts val="2650"/>
              </a:lnSpc>
              <a:spcBef>
                <a:spcPts val="240"/>
              </a:spcBef>
            </a:pPr>
            <a:r>
              <a:rPr dirty="0" sz="1400" spc="-10">
                <a:latin typeface="Calibri"/>
                <a:cs typeface="Calibri"/>
              </a:rPr>
              <a:t>Investors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six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transactions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analyzed. Metrics: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71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20">
                <a:latin typeface="Calibri"/>
                <a:cs typeface="Calibri"/>
              </a:rPr>
              <a:t>Average </a:t>
            </a:r>
            <a:r>
              <a:rPr dirty="0" sz="1400">
                <a:latin typeface="Calibri"/>
                <a:cs typeface="Calibri"/>
              </a:rPr>
              <a:t>Gap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Between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SIPs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Continuity</a:t>
            </a:r>
            <a:r>
              <a:rPr dirty="0" sz="1400" spc="-20">
                <a:latin typeface="Calibri"/>
                <a:cs typeface="Calibri"/>
              </a:rPr>
              <a:t> Rate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40">
                <a:latin typeface="Calibri"/>
                <a:cs typeface="Calibri"/>
              </a:rPr>
              <a:t>At-</a:t>
            </a:r>
            <a:r>
              <a:rPr dirty="0" sz="1400">
                <a:latin typeface="Calibri"/>
                <a:cs typeface="Calibri"/>
              </a:rPr>
              <a:t>Risk </a:t>
            </a:r>
            <a:r>
              <a:rPr dirty="0" sz="1400" spc="-10">
                <a:latin typeface="Calibri"/>
                <a:cs typeface="Calibri"/>
              </a:rPr>
              <a:t>Investors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8020684"/>
            <a:ext cx="5733415" cy="21590"/>
            <a:chOff x="914400" y="8020684"/>
            <a:chExt cx="5733415" cy="2159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802068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44385" y="802208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8022094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44385" y="802512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803884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8038858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02004" y="5363946"/>
            <a:ext cx="5756275" cy="41211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spc="-10" b="1">
                <a:latin typeface="Calibri"/>
                <a:cs typeface="Calibri"/>
              </a:rPr>
              <a:t>Transaction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spc="-20">
                <a:latin typeface="Calibri"/>
                <a:cs typeface="Calibri"/>
              </a:rPr>
              <a:t>Transactions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segmented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by: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State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Age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Group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City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Tier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20">
                <a:latin typeface="Calibri"/>
                <a:cs typeface="Calibri"/>
              </a:rPr>
              <a:t>Transaction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Type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400">
                <a:latin typeface="Calibri"/>
                <a:cs typeface="Calibri"/>
              </a:rPr>
              <a:t>Key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finding: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remains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dominant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investment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retail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POWER</a:t>
            </a:r>
            <a:r>
              <a:rPr dirty="0" u="sng" sz="1800" spc="-3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</a:t>
            </a:r>
            <a:r>
              <a:rPr dirty="0" u="sng" sz="18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DASHBOARD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1400" b="1">
                <a:latin typeface="Calibri"/>
                <a:cs typeface="Calibri"/>
              </a:rPr>
              <a:t>Dashboard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four-</a:t>
            </a:r>
            <a:r>
              <a:rPr dirty="0" sz="1400">
                <a:latin typeface="Calibri"/>
                <a:cs typeface="Calibri"/>
              </a:rPr>
              <a:t>page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Power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BI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dashboard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developed.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latin typeface="Calibri"/>
                <a:cs typeface="Calibri"/>
              </a:rPr>
              <a:t>Page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1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Industry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Overview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7325" y="3091306"/>
            <a:ext cx="2686050" cy="19526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771498"/>
            <a:ext cx="1369060" cy="136842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 spc="-25">
                <a:latin typeface="Calibri"/>
                <a:cs typeface="Calibri"/>
              </a:rPr>
              <a:t>Total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AUM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Inflows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Folio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Count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latin typeface="Calibri"/>
                <a:cs typeface="Calibri"/>
              </a:rPr>
              <a:t>Industry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Trends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004" y="6610578"/>
            <a:ext cx="2110105" cy="136842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Page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2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Fund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Performance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Return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NAV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Trends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Scorecard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778" y="2397376"/>
            <a:ext cx="6001233" cy="3596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5197322"/>
            <a:ext cx="1985645" cy="13690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400" b="1">
                <a:latin typeface="Calibri"/>
                <a:cs typeface="Calibri"/>
              </a:rPr>
              <a:t>Page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3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Investor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Analytics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State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20">
                <a:latin typeface="Calibri"/>
                <a:cs typeface="Calibri"/>
              </a:rPr>
              <a:t>Transaction</a:t>
            </a:r>
            <a:r>
              <a:rPr dirty="0" sz="1400" spc="-10">
                <a:latin typeface="Calibri"/>
                <a:cs typeface="Calibri"/>
              </a:rPr>
              <a:t> Analysis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Age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Group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Analysis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685" y="1007745"/>
            <a:ext cx="6368258" cy="3645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4146016"/>
            <a:ext cx="2176780" cy="1371600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400" b="1">
                <a:latin typeface="Calibri"/>
                <a:cs typeface="Calibri"/>
              </a:rPr>
              <a:t>Page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4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–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SIP</a:t>
            </a:r>
            <a:r>
              <a:rPr dirty="0" sz="1400" spc="-1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&amp;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Market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Trends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9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Growth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Category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Inflows</a:t>
            </a:r>
            <a:endParaRPr sz="14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Market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Trends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4400" y="9407525"/>
            <a:ext cx="5733415" cy="21590"/>
            <a:chOff x="914400" y="9407525"/>
            <a:chExt cx="5733415" cy="21590"/>
          </a:xfrm>
        </p:grpSpPr>
        <p:sp>
          <p:nvSpPr>
            <p:cNvPr id="4" name="object 4" descr=""/>
            <p:cNvSpPr/>
            <p:nvPr/>
          </p:nvSpPr>
          <p:spPr>
            <a:xfrm>
              <a:off x="914400" y="940752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644385" y="9408922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14704" y="9408934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2984"/>
                  </a:moveTo>
                  <a:lnTo>
                    <a:pt x="0" y="2984"/>
                  </a:lnTo>
                  <a:lnTo>
                    <a:pt x="0" y="16700"/>
                  </a:lnTo>
                  <a:lnTo>
                    <a:pt x="3048" y="16700"/>
                  </a:lnTo>
                  <a:lnTo>
                    <a:pt x="3048" y="2984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644385" y="941191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942563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14704" y="942564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687" y="1018695"/>
            <a:ext cx="5375191" cy="3015898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1600" y="5634227"/>
            <a:ext cx="5731509" cy="34903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914400" y="6580504"/>
            <a:ext cx="5733415" cy="20955"/>
            <a:chOff x="914400" y="6580504"/>
            <a:chExt cx="5733415" cy="20955"/>
          </a:xfrm>
        </p:grpSpPr>
        <p:sp>
          <p:nvSpPr>
            <p:cNvPr id="3" name="object 3" descr=""/>
            <p:cNvSpPr/>
            <p:nvPr/>
          </p:nvSpPr>
          <p:spPr>
            <a:xfrm>
              <a:off x="914400" y="658050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644385" y="6581520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704" y="6581533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644385" y="6584568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14704" y="6598284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14704" y="6598297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02004" y="891285"/>
            <a:ext cx="5749925" cy="876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KEY</a:t>
            </a:r>
            <a:r>
              <a:rPr dirty="0" u="sng" sz="1800" spc="-3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INSIGHTS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dirty="0" sz="1400" b="1">
                <a:latin typeface="Calibri"/>
                <a:cs typeface="Calibri"/>
              </a:rPr>
              <a:t>Major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Findings</a:t>
            </a:r>
            <a:endParaRPr sz="1400">
              <a:latin typeface="Calibri"/>
              <a:cs typeface="Calibri"/>
            </a:endParaRPr>
          </a:p>
          <a:p>
            <a:pPr marL="467995" marR="88265" indent="-227329">
              <a:lnSpc>
                <a:spcPct val="108600"/>
              </a:lnSpc>
              <a:spcBef>
                <a:spcPts val="840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industry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AUM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shown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strong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growth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between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2022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2025.</a:t>
            </a:r>
            <a:endParaRPr sz="1400">
              <a:latin typeface="Calibri"/>
              <a:cs typeface="Calibri"/>
            </a:endParaRPr>
          </a:p>
          <a:p>
            <a:pPr marL="467995" marR="782320" indent="-227329">
              <a:lnSpc>
                <a:spcPct val="108600"/>
              </a:lnSpc>
              <a:spcBef>
                <a:spcPts val="840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SIP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inflows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continue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increase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steadily,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indicating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retail 	participation.</a:t>
            </a:r>
            <a:endParaRPr sz="1400">
              <a:latin typeface="Calibri"/>
              <a:cs typeface="Calibri"/>
            </a:endParaRPr>
          </a:p>
          <a:p>
            <a:pPr marL="467995" marR="335280" indent="-227329">
              <a:lnSpc>
                <a:spcPct val="108600"/>
              </a:lnSpc>
              <a:spcBef>
                <a:spcPts val="840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Small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Cap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delivered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highest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also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carried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higher 	risk.</a:t>
            </a:r>
            <a:endParaRPr sz="1400">
              <a:latin typeface="Calibri"/>
              <a:cs typeface="Calibri"/>
            </a:endParaRPr>
          </a:p>
          <a:p>
            <a:pPr marL="467995" marR="19050" indent="-227329">
              <a:lnSpc>
                <a:spcPct val="108600"/>
              </a:lnSpc>
              <a:spcBef>
                <a:spcPts val="844"/>
              </a:spcBef>
              <a:buAutoNum type="arabicPeriod"/>
              <a:tabLst>
                <a:tab pos="469265" algn="l"/>
              </a:tabLst>
            </a:pPr>
            <a:r>
              <a:rPr dirty="0" sz="1400" spc="-25">
                <a:latin typeface="Calibri"/>
                <a:cs typeface="Calibri"/>
              </a:rPr>
              <a:t>Risk-</a:t>
            </a:r>
            <a:r>
              <a:rPr dirty="0" sz="1400" spc="-10">
                <a:latin typeface="Calibri"/>
                <a:cs typeface="Calibri"/>
              </a:rPr>
              <a:t>adjusted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metrics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identified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several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consistently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outperforming 	benchmarks.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Technology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sectors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dominate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allocations.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activity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concentrated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major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metropolitan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areas.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75"/>
              </a:spcBef>
              <a:buAutoNum type="arabicPeriod"/>
              <a:tabLst>
                <a:tab pos="468630" algn="l"/>
              </a:tabLst>
            </a:pPr>
            <a:r>
              <a:rPr dirty="0" sz="1400" spc="-25">
                <a:latin typeface="Calibri"/>
                <a:cs typeface="Calibri"/>
              </a:rPr>
              <a:t>Equity-</a:t>
            </a:r>
            <a:r>
              <a:rPr dirty="0" sz="1400" spc="-10">
                <a:latin typeface="Calibri"/>
                <a:cs typeface="Calibri"/>
              </a:rPr>
              <a:t>oriented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attracted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highest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inflows.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20">
                <a:latin typeface="Calibri"/>
                <a:cs typeface="Calibri"/>
              </a:rPr>
              <a:t>Portfolio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concentration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significantly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across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schemes.</a:t>
            </a:r>
            <a:endParaRPr sz="1400">
              <a:latin typeface="Calibri"/>
              <a:cs typeface="Calibri"/>
            </a:endParaRPr>
          </a:p>
          <a:p>
            <a:pPr marL="467995" marR="108585" indent="-227329">
              <a:lnSpc>
                <a:spcPct val="109400"/>
              </a:lnSpc>
              <a:spcBef>
                <a:spcPts val="810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Rolling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Sharpe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Ratios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revealed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changing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risk-</a:t>
            </a:r>
            <a:r>
              <a:rPr dirty="0" sz="1400" spc="-10">
                <a:latin typeface="Calibri"/>
                <a:cs typeface="Calibri"/>
              </a:rPr>
              <a:t>adjusted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over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  <a:p>
            <a:pPr marL="469265" marR="60325" indent="-238760">
              <a:lnSpc>
                <a:spcPct val="109300"/>
              </a:lnSpc>
              <a:spcBef>
                <a:spcPts val="815"/>
              </a:spcBef>
              <a:buAutoNum type="arabicPeriod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recommendation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successfully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identifies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suitable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based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risk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preferences.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18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CONCLUSION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FUTURE</a:t>
            </a:r>
            <a:r>
              <a:rPr dirty="0" u="sng" sz="1800" spc="-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800" spc="-2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400" spc="-10" b="1">
                <a:latin typeface="Calibri"/>
                <a:cs typeface="Calibri"/>
              </a:rPr>
              <a:t>Conclusion</a:t>
            </a:r>
            <a:endParaRPr sz="1400">
              <a:latin typeface="Calibri"/>
              <a:cs typeface="Calibri"/>
            </a:endParaRPr>
          </a:p>
          <a:p>
            <a:pPr marL="12700" marR="196850">
              <a:lnSpc>
                <a:spcPct val="109500"/>
              </a:lnSpc>
              <a:spcBef>
                <a:spcPts val="810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successfully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integrates </a:t>
            </a:r>
            <a:r>
              <a:rPr dirty="0" sz="1400" spc="-1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engineering,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analytics,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business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intelligence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solution.</a:t>
            </a:r>
            <a:endParaRPr sz="1400">
              <a:latin typeface="Calibri"/>
              <a:cs typeface="Calibri"/>
            </a:endParaRPr>
          </a:p>
          <a:p>
            <a:pPr marL="12700" marR="506095">
              <a:lnSpc>
                <a:spcPct val="1096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project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demonstrates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how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modern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analytics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techniques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support </a:t>
            </a:r>
            <a:r>
              <a:rPr dirty="0" sz="1400" spc="-20">
                <a:latin typeface="Calibri"/>
                <a:cs typeface="Calibri"/>
              </a:rPr>
              <a:t>investment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decision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making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through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automated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processing,</a:t>
            </a:r>
            <a:r>
              <a:rPr dirty="0" sz="1400" spc="-20">
                <a:latin typeface="Calibri"/>
                <a:cs typeface="Calibri"/>
              </a:rPr>
              <a:t> risk </a:t>
            </a:r>
            <a:r>
              <a:rPr dirty="0" sz="1400" spc="-10">
                <a:latin typeface="Calibri"/>
                <a:cs typeface="Calibri"/>
              </a:rPr>
              <a:t>assessment,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interactive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visualization.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9300"/>
              </a:lnSpc>
              <a:spcBef>
                <a:spcPts val="81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developed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enables</a:t>
            </a:r>
            <a:r>
              <a:rPr dirty="0" sz="1400" spc="-20">
                <a:latin typeface="Calibri"/>
                <a:cs typeface="Calibri"/>
              </a:rPr>
              <a:t> investors,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analysts,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financial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institutions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>
                <a:latin typeface="Calibri"/>
                <a:cs typeface="Calibri"/>
              </a:rPr>
              <a:t>gain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deeper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insights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investor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behavior.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latin typeface="Calibri"/>
                <a:cs typeface="Calibri"/>
              </a:rPr>
              <a:t>Future</a:t>
            </a:r>
            <a:r>
              <a:rPr dirty="0" sz="1400" spc="-4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Enhancements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771498"/>
            <a:ext cx="3598545" cy="439102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468630" indent="-227329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468630" algn="l"/>
              </a:tabLst>
            </a:pPr>
            <a:r>
              <a:rPr dirty="0" sz="1400" spc="-20">
                <a:latin typeface="Calibri"/>
                <a:cs typeface="Calibri"/>
              </a:rPr>
              <a:t>Real-</a:t>
            </a:r>
            <a:r>
              <a:rPr dirty="0" sz="1400">
                <a:latin typeface="Calibri"/>
                <a:cs typeface="Calibri"/>
              </a:rPr>
              <a:t>time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NAV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streaming.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Streamlit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web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Monte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Carlo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simulation.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Markowitz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portfolio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optimization.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 spc="-10">
                <a:latin typeface="Calibri"/>
                <a:cs typeface="Calibri"/>
              </a:rPr>
              <a:t>Automated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email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reporting.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9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Machine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learning-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return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forecasting.</a:t>
            </a:r>
            <a:endParaRPr sz="1400">
              <a:latin typeface="Calibri"/>
              <a:cs typeface="Calibri"/>
            </a:endParaRPr>
          </a:p>
          <a:p>
            <a:pPr marL="468630" indent="-227329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8630" algn="l"/>
              </a:tabLst>
            </a:pPr>
            <a:r>
              <a:rPr dirty="0" sz="1400">
                <a:latin typeface="Calibri"/>
                <a:cs typeface="Calibri"/>
              </a:rPr>
              <a:t>Cloud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deployment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API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integration.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1400" spc="-10" b="1">
                <a:latin typeface="Calibri"/>
                <a:cs typeface="Calibri"/>
              </a:rPr>
              <a:t>References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AMFI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India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 spc="-10">
                <a:latin typeface="Calibri"/>
                <a:cs typeface="Calibri"/>
              </a:rPr>
              <a:t>MFAPI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NSE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India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RBI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Publications</a:t>
            </a:r>
            <a:endParaRPr sz="1400">
              <a:latin typeface="Calibri"/>
              <a:cs typeface="Calibri"/>
            </a:endParaRPr>
          </a:p>
          <a:p>
            <a:pPr lvl="1" marL="469265" indent="-227965">
              <a:lnSpc>
                <a:spcPct val="100000"/>
              </a:lnSpc>
              <a:spcBef>
                <a:spcPts val="960"/>
              </a:spcBef>
              <a:buSzPct val="71428"/>
              <a:buFont typeface="Symbol"/>
              <a:buChar char=""/>
              <a:tabLst>
                <a:tab pos="469265" algn="l"/>
              </a:tabLst>
            </a:pPr>
            <a:r>
              <a:rPr dirty="0" sz="1400">
                <a:latin typeface="Calibri"/>
                <a:cs typeface="Calibri"/>
              </a:rPr>
              <a:t>Mutual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Fund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Industry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Reports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1426" y="5703726"/>
            <a:ext cx="1272976" cy="23695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133470" y="5594984"/>
            <a:ext cx="1295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471C4"/>
                </a:solidFill>
                <a:latin typeface="Calibri"/>
                <a:cs typeface="Calibri"/>
              </a:rPr>
              <a:t>Thank</a:t>
            </a:r>
            <a:r>
              <a:rPr dirty="0" sz="2400" spc="-6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4471C4"/>
                </a:solidFill>
                <a:latin typeface="Calibri"/>
                <a:cs typeface="Calibri"/>
              </a:rPr>
              <a:t>You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 Priya Reddy Devarapalli</dc:creator>
  <dcterms:created xsi:type="dcterms:W3CDTF">2026-06-07T06:35:48Z</dcterms:created>
  <dcterms:modified xsi:type="dcterms:W3CDTF">2026-06-07T06:35:48Z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2026-06-07T00:00:00Z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2026-06-07T00:00:00Z</vt:filetime>
  </property>
  <property fmtid="{D5CDD505-2E9C-101B-9397-08002B2CF9AE}" pid="5" name="Producer">
    <vt:lpwstr>Microsoft® Word 2021</vt:lpwstr>
  </property>
</Properties>
</file>